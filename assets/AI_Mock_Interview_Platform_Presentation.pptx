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ggingface.co/spaces/tejashrichoudhary2/AI-Mock-Interview-Platform" TargetMode="External"/><Relationship Id="rId3" Type="http://schemas.openxmlformats.org/officeDocument/2006/relationships/hyperlink" Target="https://github.com/tejashri-del098/AI-Mock-Interview-Platfor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ggingface.co/spaces/tejashrichoudhary2/AI-Mock-Interview-Platform" TargetMode="External"/><Relationship Id="rId3" Type="http://schemas.openxmlformats.org/officeDocument/2006/relationships/hyperlink" Target="https://github.com/tejashri-del098/AI-Mock-Interview-Platform" TargetMode="External"/><Relationship Id="rId4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uggingface.co/spaces/tejashrichoudhary2/AI-Mock-Interview-Platform" TargetMode="External"/><Relationship Id="rId3" Type="http://schemas.openxmlformats.org/officeDocument/2006/relationships/hyperlink" Target="https://github.com/tejashri-del098/AI-Mock-Interview-Platfor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73152" cy="2926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0584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DD4BF"/>
                </a:solidFill>
                <a:latin typeface="Arial"/>
              </a:defRPr>
            </a:pPr>
            <a:r>
              <a:t>AI TECHNICAL MOCK RECRUITER RECRUITING SUITE</a:t>
            </a:r>
          </a:p>
          <a:p>
            <a:pPr>
              <a:spcBef>
                <a:spcPts val="800"/>
              </a:spcBef>
              <a:defRPr sz="4600" b="1">
                <a:solidFill>
                  <a:srgbClr val="F8FAFC"/>
                </a:solidFill>
                <a:latin typeface="Arial"/>
              </a:defRPr>
            </a:pPr>
            <a:r>
              <a:t>AI Mock Interview Platform</a:t>
            </a:r>
          </a:p>
          <a:p>
            <a:pPr>
              <a:spcBef>
                <a:spcPts val="1200"/>
              </a:spcBef>
              <a:defRPr sz="1800">
                <a:solidFill>
                  <a:srgbClr val="94A3B8"/>
                </a:solidFill>
                <a:latin typeface="Arial"/>
              </a:defRPr>
            </a:pPr>
            <a:r>
              <a:t>A local RAG-powered, speech-enabled simulation platform for engineering candidates</a:t>
            </a:r>
          </a:p>
          <a:p>
            <a:pPr>
              <a:spcBef>
                <a:spcPts val="3600"/>
              </a:spcBef>
            </a:pPr>
            <a:r>
              <a:rPr sz="1500" b="1" u="sng">
                <a:solidFill>
                  <a:srgbClr val="2DD4BF"/>
                </a:solidFill>
                <a:latin typeface="Arial"/>
                <a:hlinkClick r:id="rId2"/>
              </a:rPr>
              <a:t>🚀 Launch Live App on Hugging Face</a:t>
            </a:r>
            <a:r>
              <a:rPr sz="1500">
                <a:solidFill>
                  <a:srgbClr val="94A3B8"/>
                </a:solidFill>
              </a:rPr>
              <a:t>   |   </a:t>
            </a:r>
            <a:r>
              <a:rPr sz="1500" b="1" u="sng">
                <a:solidFill>
                  <a:srgbClr val="6366F1"/>
                </a:solidFill>
                <a:latin typeface="Arial"/>
                <a:hlinkClick r:id="rId3"/>
              </a:rPr>
              <a:t>💻 Access Source Code on GitHub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HACKATHON DELIVERABLE</a:t>
            </a:r>
          </a:p>
          <a:p>
            <a:pPr>
              <a:spcBef>
                <a:spcPts val="400"/>
              </a:spcBef>
              <a:defRPr sz="2600" b="1">
                <a:solidFill>
                  <a:srgbClr val="F8FAFC"/>
                </a:solidFill>
                <a:latin typeface="Arial"/>
              </a:defRPr>
            </a:pPr>
            <a:r>
              <a:t>The Problem &amp;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EF4444"/>
                </a:solidFill>
                <a:latin typeface="Arial"/>
              </a:defRPr>
            </a:pPr>
            <a:r>
              <a:t>THE RECRUITING GAPS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 Static Standard Prep: Standard question pools fail to evaluate actual resume claims, engineering stacks, or candidates' projects.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 No Conversational Pressure: Typing code or text responses lacks the behavioral friction of a live spoken interview panel.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 Lack of Detailed Feedback: Feedback is generic and doesn't map exact model responses to optimal answers or study guides.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 Data Privacy &amp; Costs: Uploading sensitive resumes to external API services poses corporate compliance risks and mounts monthly bills.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2DD4BF"/>
                </a:solidFill>
                <a:latin typeface="Arial"/>
              </a:defRPr>
            </a:pPr>
            <a:r>
              <a:t>THE RAG RECRUITER SOLUTION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•  Contextual RAG Core: Ingests PDF/DOCX resumes, creating local ChromaDB vectors to prompt context-specific recruiting questions.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•  Speech rec/generation loop: Custom micro-audio canvas record module (Whisper STT) and Edge TTS voice output mimic live pacing.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•  Actionable Assessment: Renders interactive charts showing candidate score breakdowns in technical accuracy, style, and relevance.</a:t>
            </a:r>
          </a:p>
          <a:p>
            <a:pPr>
              <a:spcAft>
                <a:spcPts val="1000"/>
              </a:spcAft>
              <a:defRPr sz="1300">
                <a:solidFill>
                  <a:srgbClr val="F8FAFC"/>
                </a:solidFill>
                <a:latin typeface="Arial"/>
              </a:defRPr>
            </a:pPr>
            <a:r>
              <a:t>•  Headless PDF Report: Compiles feedback summaries, strengths, weaknesses, and study syllabus into a printable PDF.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HACKATHON DELIVERABLE</a:t>
            </a:r>
          </a:p>
          <a:p>
            <a:pPr>
              <a:spcBef>
                <a:spcPts val="400"/>
              </a:spcBef>
              <a:defRPr sz="2600" b="1">
                <a:solidFill>
                  <a:srgbClr val="F8FAFC"/>
                </a:solidFill>
                <a:latin typeface="Arial"/>
              </a:defRPr>
            </a:pPr>
            <a:r>
              <a:t>System Architecture &amp; Data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45720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DATA PIPELINE FLOW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 Resume Parsing: Text chunks are extracted from PDF/DOCX/TXT files, embedded (all-MiniLM-L6-v2), and stored locally in ChromaDB.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 FastAPI State Gateway: Manages session variables, retrieves resume profiles, runs evaluations, and mounts static paths.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 Microphone STT: Custom browser microphone recorder sends chunks to local Whisper Tiny model for latency-free offline transcripts.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  <a:latin typeface="Arial"/>
              </a:defRPr>
            </a:pPr>
            <a:r>
              <a:t>•  Nginx Proxy routing: Port 7860 handles HTTP requests (/api), streams audio (/static/audio), and opens Streamlit WebSockets.</a:t>
            </a:r>
          </a:p>
          <a:p>
            <a:pPr>
              <a:spcBef>
                <a:spcPts val="1400"/>
              </a:spcBef>
            </a:pPr>
            <a:r>
              <a:rPr sz="1200" b="1" u="sng">
                <a:solidFill>
                  <a:srgbClr val="2DD4BF"/>
                </a:solidFill>
                <a:latin typeface="Arial"/>
                <a:hlinkClick r:id="rId2"/>
              </a:rPr>
              <a:t>🔗 Click Here to Launch HF Space</a:t>
            </a:r>
            <a:r>
              <a:rPr>
                <a:solidFill>
                  <a:srgbClr val="94A3B8"/>
                </a:solidFill>
              </a:rPr>
              <a:t>  |  </a:t>
            </a:r>
            <a:r>
              <a:rPr sz="1200" b="1" u="sng">
                <a:solidFill>
                  <a:srgbClr val="6366F1"/>
                </a:solidFill>
                <a:latin typeface="Arial"/>
                <a:hlinkClick r:id="rId3"/>
              </a:rPr>
              <a:t>🔗 View GitHub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ystem_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103120"/>
            <a:ext cx="4846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HACKATHON DELIVERABLE</a:t>
            </a:r>
          </a:p>
          <a:p>
            <a:pPr>
              <a:spcBef>
                <a:spcPts val="400"/>
              </a:spcBef>
              <a:defRPr sz="2600" b="1">
                <a:solidFill>
                  <a:srgbClr val="F8FAFC"/>
                </a:solidFill>
                <a:latin typeface="Arial"/>
              </a:defRPr>
            </a:pPr>
            <a:r>
              <a:t>Tech Stack &amp; Rationale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5669280"/>
              </a:tblGrid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DD4BF"/>
                          </a:solidFill>
                          <a:latin typeface="Arial"/>
                        </a:rPr>
                        <a:t>COMPONENT LAYER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DD4BF"/>
                          </a:solidFill>
                          <a:latin typeface="Arial"/>
                        </a:rPr>
                        <a:t>CHOSEN TECHNOLOGY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DD4BF"/>
                          </a:solidFill>
                          <a:latin typeface="Arial"/>
                        </a:rPr>
                        <a:t>RATIONALE vs ALTERNATIVES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8FAFC"/>
                          </a:solidFill>
                          <a:latin typeface="Arial"/>
                        </a:rPr>
                        <a:t>Frontend Interface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6366F1"/>
                          </a:solidFill>
                          <a:latin typeface="Arial"/>
                        </a:rPr>
                        <a:t>Streamlit (Slate Dark Theme)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94A3B8"/>
                          </a:solidFill>
                          <a:latin typeface="Arial"/>
                        </a:rPr>
                        <a:t>Fast UI building in pure Python. Houses bi-directional custom components for audio recordings and web analytics; beats React development overhead for mockups.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8FAFC"/>
                          </a:solidFill>
                          <a:latin typeface="Arial"/>
                        </a:rPr>
                        <a:t>Backend API Gateway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6366F1"/>
                          </a:solidFill>
                          <a:latin typeface="Arial"/>
                        </a:rPr>
                        <a:t>FastAPI (Uvicorn)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94A3B8"/>
                          </a:solidFill>
                          <a:latin typeface="Arial"/>
                        </a:rPr>
                        <a:t>Full async/await integration handles multiple parallel text-to-speech requests and Whisper audio uploads seamlessly; out-performs synchronous Flask.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8FAFC"/>
                          </a:solidFill>
                          <a:latin typeface="Arial"/>
                        </a:rPr>
                        <a:t>RAG Vector Database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6366F1"/>
                          </a:solidFill>
                          <a:latin typeface="Arial"/>
                        </a:rPr>
                        <a:t>ChromaDB (Local Persistent)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94A3B8"/>
                          </a:solidFill>
                          <a:latin typeface="Arial"/>
                        </a:rPr>
                        <a:t>100% serverless and offline. Avoids network latency, paid Pinecone storage costs, and keeps resume embeddings completely private.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8FAFC"/>
                          </a:solidFill>
                          <a:latin typeface="Arial"/>
                        </a:rPr>
                        <a:t>Recruiting Audio Pipeline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6366F1"/>
                          </a:solidFill>
                          <a:latin typeface="Arial"/>
                        </a:rPr>
                        <a:t>Edge TTS &amp; Local Whisper Tiny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94A3B8"/>
                          </a:solidFill>
                          <a:latin typeface="Arial"/>
                        </a:rPr>
                        <a:t>Edge TTS synthesis provides natural neural voices for free; local Whisper transcription model runs locally in container with zero API rate limits.</a:t>
                      </a:r>
                    </a:p>
                  </a:txBody>
                  <a:tcPr>
                    <a:solidFill>
                      <a:srgbClr val="161C2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HACKATHON DELIVERABLE</a:t>
            </a:r>
          </a:p>
          <a:p>
            <a:pPr>
              <a:spcBef>
                <a:spcPts val="400"/>
              </a:spcBef>
              <a:defRPr sz="2600" b="1">
                <a:solidFill>
                  <a:srgbClr val="F8FAFC"/>
                </a:solidFill>
                <a:latin typeface="Arial"/>
              </a:defRPr>
            </a:pPr>
            <a:r>
              <a:t>Platform Features &amp; Resiliency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2DD4BF"/>
                </a:solidFill>
                <a:latin typeface="Arial"/>
              </a:defRPr>
            </a:pPr>
            <a:r>
              <a:t>ROBUST PARSING CORE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Multi-Format Reader: Handles PDF, DOCX, and TXT resume files natively.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Built-in DOCX Parser: Uses Python zipfile/XML structures to parse Word documents without external API dependancies.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SQLite Persistence: Saves profiles, sessions, and conversation history on-disk.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6366F1"/>
                </a:solidFill>
                <a:latin typeface="Arial"/>
              </a:defRPr>
            </a:pPr>
            <a:r>
              <a:t>UI ENHANCEMENTS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Canvas Waveform Visualizer: Dynamic waveform charts drawn in browser via custom Streamlit Javascript components.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Matplotlib Breakdown Charts: Headless canvas drawing translates scoring arrays into bar visuals.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Detailed Error Outputs: Feeds raw API failure strings directly to UI for diagnostic clarity.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 b="1">
                <a:solidFill>
                  <a:srgbClr val="EF4444"/>
                </a:solidFill>
                <a:latin typeface="Arial"/>
              </a:defRPr>
            </a:pPr>
            <a:r>
              <a:t>FAILOVER RESILIENCY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Gemini-to-Groq Failovers: Switches automatically to Groq LLaMA-3.3-70B if Gemini triggers rate-limit (429) errors.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JSON Boundary Cleaners: Regex boundary isolators parse structured outputs reliably.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Arial"/>
              </a:defRPr>
            </a:pPr>
            <a:r>
              <a:t>•  Secure Docker Settings: Runs under non-root UID 1000 with Nginx folders mapped to /tmp.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HACKATHON DELIVERABLE</a:t>
            </a:r>
          </a:p>
          <a:p>
            <a:pPr>
              <a:spcBef>
                <a:spcPts val="400"/>
              </a:spcBef>
              <a:defRPr sz="2600" b="1">
                <a:solidFill>
                  <a:srgbClr val="F8FAFC"/>
                </a:solidFill>
                <a:latin typeface="Arial"/>
              </a:defRPr>
            </a:pPr>
            <a:r>
              <a:t>Hackathon Deliverables &amp; Live Links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1828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LIVE DEPLOYMENT</a:t>
            </a:r>
          </a:p>
          <a:p>
            <a:pPr>
              <a:spcBef>
                <a:spcPts val="800"/>
              </a:spcBef>
            </a:pPr>
            <a:r>
              <a:rPr sz="1400" b="1" u="sng">
                <a:solidFill>
                  <a:srgbClr val="F8FAFC"/>
                </a:solidFill>
                <a:latin typeface="Arial"/>
                <a:hlinkClick r:id="rId2"/>
              </a:rPr>
              <a:t>👉 CLICK HERE TO OPEN HUGGING FACE SPACE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Runs on CPU Basic tier with secure Nginx routing and Supervisord management.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1828800"/>
          </a:xfrm>
          <a:prstGeom prst="roundRect">
            <a:avLst/>
          </a:prstGeom>
          <a:solidFill>
            <a:srgbClr val="161C2D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366F1"/>
                </a:solidFill>
                <a:latin typeface="Arial"/>
              </a:defRPr>
            </a:pPr>
            <a:r>
              <a:t>GITHUB REPOSITORY</a:t>
            </a:r>
          </a:p>
          <a:p>
            <a:pPr>
              <a:spcBef>
                <a:spcPts val="800"/>
              </a:spcBef>
            </a:pPr>
            <a:r>
              <a:rPr sz="1400" b="1" u="sng">
                <a:solidFill>
                  <a:srgbClr val="F8FAFC"/>
                </a:solidFill>
                <a:latin typeface="Arial"/>
                <a:hlinkClick r:id="rId3"/>
              </a:rPr>
              <a:t>👉 CLICK HERE TO VIEW CODE ON GITHUB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Fully open source repository containing pipeline tests and actions workflow.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120640" cy="4114800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1168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6366F1"/>
                </a:solidFill>
                <a:latin typeface="Arial"/>
              </a:defRPr>
            </a:pPr>
            <a:r>
              <a:t>LOCAL RUN INSTRUCTIONS (TERMINAL)</a:t>
            </a:r>
          </a:p>
          <a:p>
            <a:pPr>
              <a:defRPr sz="1000">
                <a:solidFill>
                  <a:srgbClr val="2DD4BF"/>
                </a:solidFill>
                <a:latin typeface="Courier New"/>
              </a:defRPr>
            </a:pPr>
            <a:r>
              <a:t># Clone the Repository</a:t>
            </a:r>
          </a:p>
          <a:p>
            <a:pPr>
              <a:defRPr sz="1000">
                <a:solidFill>
                  <a:srgbClr val="F8FAFC"/>
                </a:solidFill>
                <a:latin typeface="Courier New"/>
              </a:defRPr>
            </a:pPr>
            <a:r>
              <a:t>git clone https://github.com/tejashri-del098/AI-Mock-Interview-Platform.git</a:t>
            </a:r>
          </a:p>
          <a:p>
            <a:pPr>
              <a:defRPr sz="1000">
                <a:solidFill>
                  <a:srgbClr val="F8FAFC"/>
                </a:solidFill>
                <a:latin typeface="Courier New"/>
              </a:defRPr>
            </a:pPr>
            <a:r>
              <a:t>cd AI-Mock-Interview-Platform</a:t>
            </a:r>
          </a:p>
          <a:p>
            <a:pPr>
              <a:defRPr sz="1000">
                <a:solidFill>
                  <a:srgbClr val="F8FAFC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2DD4BF"/>
                </a:solidFill>
                <a:latin typeface="Courier New"/>
              </a:defRPr>
            </a:pPr>
            <a:r>
              <a:t># Install dependencies</a:t>
            </a:r>
          </a:p>
          <a:p>
            <a:pPr>
              <a:defRPr sz="1000">
                <a:solidFill>
                  <a:srgbClr val="F8FAFC"/>
                </a:solidFill>
                <a:latin typeface="Courier New"/>
              </a:defRPr>
            </a:pPr>
            <a:r>
              <a:t>pip install -r requirements.txt</a:t>
            </a:r>
          </a:p>
          <a:p>
            <a:pPr>
              <a:defRPr sz="1000">
                <a:solidFill>
                  <a:srgbClr val="F8FAFC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2DD4BF"/>
                </a:solidFill>
                <a:latin typeface="Courier New"/>
              </a:defRPr>
            </a:pPr>
            <a:r>
              <a:t># Run FastAPI Backend Server (Terminal 1)</a:t>
            </a:r>
          </a:p>
          <a:p>
            <a:pPr>
              <a:defRPr sz="1000">
                <a:solidFill>
                  <a:srgbClr val="F8FAFC"/>
                </a:solidFill>
                <a:latin typeface="Courier New"/>
              </a:defRPr>
            </a:pPr>
            <a:r>
              <a:t>uvicorn app.api.main:app --reload --port 8000</a:t>
            </a:r>
          </a:p>
          <a:p>
            <a:pPr>
              <a:defRPr sz="1000">
                <a:solidFill>
                  <a:srgbClr val="F8FAFC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2DD4BF"/>
                </a:solidFill>
                <a:latin typeface="Courier New"/>
              </a:defRPr>
            </a:pPr>
            <a:r>
              <a:t># Run Streamlit Frontend dashboard (Terminal 2)</a:t>
            </a:r>
          </a:p>
          <a:p>
            <a:pPr>
              <a:defRPr sz="1000">
                <a:solidFill>
                  <a:srgbClr val="F8FAFC"/>
                </a:solidFill>
                <a:latin typeface="Courier New"/>
              </a:defRPr>
            </a:pPr>
            <a:r>
              <a:t>streamlit run app/ui/app.py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